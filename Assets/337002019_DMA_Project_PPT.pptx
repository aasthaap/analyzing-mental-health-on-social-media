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2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365760"/>
            <a:ext cx="38892" cy="38892"/>
          </a:xfrm>
          <a:prstGeom prst="ellipse">
            <a:avLst/>
          </a:prstGeom>
          <a:solidFill>
            <a:srgbClr val="1E3A5F">
              <a:alpha val="3607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97280" y="1005840"/>
            <a:ext cx="32012" cy="32012"/>
          </a:xfrm>
          <a:prstGeom prst="ellipse">
            <a:avLst/>
          </a:prstGeom>
          <a:solidFill>
            <a:srgbClr val="1E3A5F">
              <a:alpha val="5215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286000" y="182880"/>
            <a:ext cx="39175" cy="39175"/>
          </a:xfrm>
          <a:prstGeom prst="ellipse">
            <a:avLst/>
          </a:prstGeom>
          <a:solidFill>
            <a:srgbClr val="1E3A5F">
              <a:alpha val="2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474720" y="731520"/>
            <a:ext cx="37007" cy="37007"/>
          </a:xfrm>
          <a:prstGeom prst="ellipse">
            <a:avLst/>
          </a:prstGeom>
          <a:solidFill>
            <a:srgbClr val="1E3A5F">
              <a:alpha val="4117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663440" y="274320"/>
            <a:ext cx="33336" cy="33336"/>
          </a:xfrm>
          <a:prstGeom prst="ellipse">
            <a:avLst/>
          </a:prstGeom>
          <a:solidFill>
            <a:srgbClr val="1E3A5F">
              <a:alpha val="5803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852160" y="914400"/>
            <a:ext cx="36542" cy="36542"/>
          </a:xfrm>
          <a:prstGeom prst="ellipse">
            <a:avLst/>
          </a:prstGeom>
          <a:solidFill>
            <a:srgbClr val="1E3A5F">
              <a:alpha val="38823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949440" y="457200"/>
            <a:ext cx="24963" cy="24963"/>
          </a:xfrm>
          <a:prstGeom prst="ellipse">
            <a:avLst/>
          </a:prstGeom>
          <a:solidFill>
            <a:srgbClr val="1E3A5F">
              <a:alpha val="2901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138160" y="822960"/>
            <a:ext cx="34791" cy="34791"/>
          </a:xfrm>
          <a:prstGeom prst="ellipse">
            <a:avLst/>
          </a:prstGeom>
          <a:solidFill>
            <a:srgbClr val="1E3A5F">
              <a:alpha val="56862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8686800" y="182880"/>
            <a:ext cx="36868" cy="36868"/>
          </a:xfrm>
          <a:prstGeom prst="ellipse">
            <a:avLst/>
          </a:prstGeom>
          <a:solidFill>
            <a:srgbClr val="1E3A5F">
              <a:alpha val="5019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40080" y="2011680"/>
            <a:ext cx="36584" cy="36584"/>
          </a:xfrm>
          <a:prstGeom prst="ellipse">
            <a:avLst/>
          </a:prstGeom>
          <a:solidFill>
            <a:srgbClr val="1E3A5F">
              <a:alpha val="5294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737360" y="2743200"/>
            <a:ext cx="38931" cy="38931"/>
          </a:xfrm>
          <a:prstGeom prst="ellipse">
            <a:avLst/>
          </a:prstGeom>
          <a:solidFill>
            <a:srgbClr val="1E3A5F">
              <a:alpha val="3607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2834640" y="1645920"/>
            <a:ext cx="38163" cy="38163"/>
          </a:xfrm>
          <a:prstGeom prst="ellipse">
            <a:avLst/>
          </a:prstGeom>
          <a:solidFill>
            <a:srgbClr val="1E3A5F">
              <a:alpha val="2901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023360" y="2377440"/>
            <a:ext cx="29774" cy="29774"/>
          </a:xfrm>
          <a:prstGeom prst="ellipse">
            <a:avLst/>
          </a:prstGeom>
          <a:solidFill>
            <a:srgbClr val="1E3A5F">
              <a:alpha val="25882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212080" y="1371600"/>
            <a:ext cx="28345" cy="28345"/>
          </a:xfrm>
          <a:prstGeom prst="ellipse">
            <a:avLst/>
          </a:prstGeom>
          <a:solidFill>
            <a:srgbClr val="1E3A5F">
              <a:alpha val="2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6309360" y="2560320"/>
            <a:ext cx="34505" cy="34505"/>
          </a:xfrm>
          <a:prstGeom prst="ellipse">
            <a:avLst/>
          </a:prstGeom>
          <a:solidFill>
            <a:srgbClr val="1E3A5F">
              <a:alpha val="2705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7498080" y="1737360"/>
            <a:ext cx="34850" cy="34850"/>
          </a:xfrm>
          <a:prstGeom prst="ellipse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8503920" y="2286000"/>
            <a:ext cx="37830" cy="37830"/>
          </a:xfrm>
          <a:prstGeom prst="ellipse">
            <a:avLst/>
          </a:prstGeom>
          <a:solidFill>
            <a:srgbClr val="1E3A5F">
              <a:alpha val="4901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365760" y="3749040"/>
            <a:ext cx="23893" cy="23893"/>
          </a:xfrm>
          <a:prstGeom prst="ellipse">
            <a:avLst/>
          </a:prstGeom>
          <a:solidFill>
            <a:srgbClr val="1E3A5F">
              <a:alpha val="3098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1463040" y="3383280"/>
            <a:ext cx="25774" cy="25774"/>
          </a:xfrm>
          <a:prstGeom prst="ellipse">
            <a:avLst/>
          </a:prstGeom>
          <a:solidFill>
            <a:srgbClr val="1E3A5F">
              <a:alpha val="5098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2560320" y="4389120"/>
            <a:ext cx="29708" cy="29708"/>
          </a:xfrm>
          <a:prstGeom prst="ellipse">
            <a:avLst/>
          </a:prstGeom>
          <a:solidFill>
            <a:srgbClr val="1E3A5F">
              <a:alpha val="3215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3657600" y="3840480"/>
            <a:ext cx="25603" cy="25603"/>
          </a:xfrm>
          <a:prstGeom prst="ellipse">
            <a:avLst/>
          </a:prstGeom>
          <a:solidFill>
            <a:srgbClr val="1E3A5F">
              <a:alpha val="38823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846320" y="3200400"/>
            <a:ext cx="23485" cy="23485"/>
          </a:xfrm>
          <a:prstGeom prst="ellipse">
            <a:avLst/>
          </a:prstGeom>
          <a:solidFill>
            <a:srgbClr val="1E3A5F">
              <a:alpha val="4117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035040" y="4297680"/>
            <a:ext cx="25340" cy="25340"/>
          </a:xfrm>
          <a:prstGeom prst="ellipse">
            <a:avLst/>
          </a:prstGeom>
          <a:solidFill>
            <a:srgbClr val="1E3A5F">
              <a:alpha val="25882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7132320" y="3657600"/>
            <a:ext cx="25126" cy="25126"/>
          </a:xfrm>
          <a:prstGeom prst="ellipse">
            <a:avLst/>
          </a:prstGeom>
          <a:solidFill>
            <a:srgbClr val="1E3A5F">
              <a:alpha val="4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8229600" y="4114800"/>
            <a:ext cx="40968" cy="40968"/>
          </a:xfrm>
          <a:prstGeom prst="ellipse">
            <a:avLst/>
          </a:prstGeom>
          <a:solidFill>
            <a:srgbClr val="1E3A5F">
              <a:alpha val="4196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8778240" y="2926080"/>
            <a:ext cx="31989" cy="31989"/>
          </a:xfrm>
          <a:prstGeom prst="ellipse">
            <a:avLst/>
          </a:prstGeom>
          <a:solidFill>
            <a:srgbClr val="1E3A5F">
              <a:alpha val="3607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914400" y="4754880"/>
            <a:ext cx="27713" cy="27713"/>
          </a:xfrm>
          <a:prstGeom prst="ellipse">
            <a:avLst/>
          </a:prstGeom>
          <a:solidFill>
            <a:srgbClr val="1E3A5F">
              <a:alpha val="5803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2103120" y="5029200"/>
            <a:ext cx="32064" cy="32064"/>
          </a:xfrm>
          <a:prstGeom prst="ellipse">
            <a:avLst/>
          </a:prstGeom>
          <a:solidFill>
            <a:srgbClr val="1E3A5F">
              <a:alpha val="25882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3291840" y="4572000"/>
            <a:ext cx="26792" cy="26792"/>
          </a:xfrm>
          <a:prstGeom prst="ellipse">
            <a:avLst/>
          </a:prstGeom>
          <a:solidFill>
            <a:srgbClr val="1E3A5F">
              <a:alpha val="3215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4480560" y="4937760"/>
            <a:ext cx="24576" cy="24576"/>
          </a:xfrm>
          <a:prstGeom prst="ellipse">
            <a:avLst/>
          </a:prstGeom>
          <a:solidFill>
            <a:srgbClr val="1E3A5F">
              <a:alpha val="4705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669280" y="4663440"/>
            <a:ext cx="34884" cy="34884"/>
          </a:xfrm>
          <a:prstGeom prst="ellipse">
            <a:avLst/>
          </a:prstGeom>
          <a:solidFill>
            <a:srgbClr val="1E3A5F">
              <a:alpha val="4117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858000" y="5029200"/>
            <a:ext cx="35341" cy="35341"/>
          </a:xfrm>
          <a:prstGeom prst="ellipse">
            <a:avLst/>
          </a:prstGeom>
          <a:solidFill>
            <a:srgbClr val="1E3A5F">
              <a:alpha val="2901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8046720" y="4754880"/>
            <a:ext cx="34439" cy="34439"/>
          </a:xfrm>
          <a:prstGeom prst="ellipse">
            <a:avLst/>
          </a:prstGeom>
          <a:solidFill>
            <a:srgbClr val="1E3A5F">
              <a:alpha val="3019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" name="Google Shape;49;p3"/>
          <p:cNvCxnSpPr/>
          <p:nvPr/>
        </p:nvCxnSpPr>
        <p:spPr>
          <a:xfrm>
            <a:off x="274320" y="365760"/>
            <a:ext cx="822960" cy="64008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3"/>
          <p:cNvCxnSpPr/>
          <p:nvPr/>
        </p:nvCxnSpPr>
        <p:spPr>
          <a:xfrm flipH="1" rot="10800000">
            <a:off x="1097280" y="182880"/>
            <a:ext cx="1188720" cy="82296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p3"/>
          <p:cNvCxnSpPr/>
          <p:nvPr/>
        </p:nvCxnSpPr>
        <p:spPr>
          <a:xfrm flipH="1" rot="10800000">
            <a:off x="3474720" y="274320"/>
            <a:ext cx="1188720" cy="45720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" name="Google Shape;52;p3"/>
          <p:cNvCxnSpPr/>
          <p:nvPr/>
        </p:nvCxnSpPr>
        <p:spPr>
          <a:xfrm flipH="1" rot="10800000">
            <a:off x="5852160" y="457200"/>
            <a:ext cx="1097280" cy="45720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3"/>
          <p:cNvCxnSpPr/>
          <p:nvPr/>
        </p:nvCxnSpPr>
        <p:spPr>
          <a:xfrm>
            <a:off x="640080" y="2011680"/>
            <a:ext cx="1097280" cy="73152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3"/>
          <p:cNvCxnSpPr/>
          <p:nvPr/>
        </p:nvCxnSpPr>
        <p:spPr>
          <a:xfrm flipH="1" rot="10800000">
            <a:off x="4023360" y="1371600"/>
            <a:ext cx="1188720" cy="10058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3"/>
          <p:cNvCxnSpPr/>
          <p:nvPr/>
        </p:nvCxnSpPr>
        <p:spPr>
          <a:xfrm>
            <a:off x="7498080" y="1737360"/>
            <a:ext cx="1005840" cy="5486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3"/>
          <p:cNvCxnSpPr/>
          <p:nvPr/>
        </p:nvCxnSpPr>
        <p:spPr>
          <a:xfrm>
            <a:off x="1463040" y="3383280"/>
            <a:ext cx="1097280" cy="10058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3"/>
          <p:cNvCxnSpPr/>
          <p:nvPr/>
        </p:nvCxnSpPr>
        <p:spPr>
          <a:xfrm>
            <a:off x="4846320" y="3200400"/>
            <a:ext cx="1188720" cy="109728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3"/>
          <p:cNvSpPr/>
          <p:nvPr/>
        </p:nvSpPr>
        <p:spPr>
          <a:xfrm>
            <a:off x="464125" y="256025"/>
            <a:ext cx="82227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ANALYZING MENTAL  HEALTH ON SOCIAL MEDIA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80" y="1884448"/>
            <a:ext cx="6446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Uncovering linguistic patterns, community segments &amp; temporal dependencies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74320" y="2468880"/>
            <a:ext cx="2029968" cy="1417320"/>
          </a:xfrm>
          <a:prstGeom prst="roundRect">
            <a:avLst>
              <a:gd fmla="val 6452" name="adj"/>
            </a:avLst>
          </a:prstGeom>
          <a:solidFill>
            <a:srgbClr val="0D1535"/>
          </a:solidFill>
          <a:ln cap="flat" cmpd="sng" w="25400">
            <a:solidFill>
              <a:srgbClr val="17C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74320" y="2542032"/>
            <a:ext cx="2029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12,000+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74320" y="3255264"/>
            <a:ext cx="20299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Reddit Posts Analyzed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468880" y="2468880"/>
            <a:ext cx="2029968" cy="1417320"/>
          </a:xfrm>
          <a:prstGeom prst="roundRect">
            <a:avLst>
              <a:gd fmla="val 6452" name="adj"/>
            </a:avLst>
          </a:prstGeom>
          <a:solidFill>
            <a:srgbClr val="0D1535"/>
          </a:solidFill>
          <a:ln cap="flat" cmpd="sng" w="25400">
            <a:solidFill>
              <a:srgbClr val="F4B4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2468880" y="2542032"/>
            <a:ext cx="2029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430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4B43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468880" y="3255264"/>
            <a:ext cx="20299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Subreddits / 5+5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663440" y="2468880"/>
            <a:ext cx="2029968" cy="1417320"/>
          </a:xfrm>
          <a:prstGeom prst="roundRect">
            <a:avLst>
              <a:gd fmla="val 6452" name="adj"/>
            </a:avLst>
          </a:prstGeom>
          <a:solidFill>
            <a:srgbClr val="0D1535"/>
          </a:solidFill>
          <a:ln cap="flat" cmpd="sng" w="25400">
            <a:solidFill>
              <a:srgbClr val="FF6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663440" y="2542032"/>
            <a:ext cx="2029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8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6B8A"/>
                </a:solidFill>
                <a:latin typeface="Calibri"/>
                <a:ea typeface="Calibri"/>
                <a:cs typeface="Calibri"/>
                <a:sym typeface="Calibri"/>
              </a:rPr>
              <a:t>22.5×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663440" y="3255264"/>
            <a:ext cx="20299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Peak Lift — panic ↔ attack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858000" y="2468880"/>
            <a:ext cx="2029968" cy="1417320"/>
          </a:xfrm>
          <a:prstGeom prst="roundRect">
            <a:avLst>
              <a:gd fmla="val 6452" name="adj"/>
            </a:avLst>
          </a:prstGeom>
          <a:solidFill>
            <a:srgbClr val="0D1535"/>
          </a:solidFill>
          <a:ln cap="flat" cmpd="sng" w="25400">
            <a:solidFill>
              <a:srgbClr val="5B8D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858000" y="2542032"/>
            <a:ext cx="2029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D9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5B8DD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858000" y="3255264"/>
            <a:ext cx="202996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Novel Mining Methods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274320" y="4041648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DATA MINING PROJECT  · 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AASTHA PATEL</a:t>
            </a:r>
            <a:r>
              <a:rPr b="0" i="0" lang="en-US" sz="16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  ·  UIN 337002019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24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274320" y="365760"/>
            <a:ext cx="38199" cy="38199"/>
          </a:xfrm>
          <a:prstGeom prst="ellipse">
            <a:avLst/>
          </a:prstGeom>
          <a:solidFill>
            <a:srgbClr val="1E3A5F">
              <a:alpha val="34117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097280" y="1005840"/>
            <a:ext cx="26917" cy="26917"/>
          </a:xfrm>
          <a:prstGeom prst="ellipse">
            <a:avLst/>
          </a:prstGeom>
          <a:solidFill>
            <a:srgbClr val="1E3A5F">
              <a:alpha val="5098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2286000" y="182880"/>
            <a:ext cx="25244" cy="25244"/>
          </a:xfrm>
          <a:prstGeom prst="ellipse">
            <a:avLst/>
          </a:prstGeom>
          <a:solidFill>
            <a:srgbClr val="1E3A5F">
              <a:alpha val="45882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474720" y="731520"/>
            <a:ext cx="39300" cy="39300"/>
          </a:xfrm>
          <a:prstGeom prst="ellipse">
            <a:avLst/>
          </a:prstGeom>
          <a:solidFill>
            <a:srgbClr val="1E3A5F">
              <a:alpha val="5215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663440" y="274320"/>
            <a:ext cx="37115" cy="37115"/>
          </a:xfrm>
          <a:prstGeom prst="ellipse">
            <a:avLst/>
          </a:prstGeom>
          <a:solidFill>
            <a:srgbClr val="1E3A5F">
              <a:alpha val="4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852160" y="914400"/>
            <a:ext cx="35143" cy="35143"/>
          </a:xfrm>
          <a:prstGeom prst="ellipse">
            <a:avLst/>
          </a:prstGeom>
          <a:solidFill>
            <a:srgbClr val="1E3A5F">
              <a:alpha val="5294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949440" y="457200"/>
            <a:ext cx="38956" cy="38956"/>
          </a:xfrm>
          <a:prstGeom prst="ellipse">
            <a:avLst/>
          </a:prstGeom>
          <a:solidFill>
            <a:srgbClr val="1E3A5F">
              <a:alpha val="23137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8138160" y="822960"/>
            <a:ext cx="26241" cy="26241"/>
          </a:xfrm>
          <a:prstGeom prst="ellipse">
            <a:avLst/>
          </a:prstGeom>
          <a:solidFill>
            <a:srgbClr val="1E3A5F">
              <a:alpha val="4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8686800" y="182880"/>
            <a:ext cx="27787" cy="27787"/>
          </a:xfrm>
          <a:prstGeom prst="ellipse">
            <a:avLst/>
          </a:prstGeom>
          <a:solidFill>
            <a:srgbClr val="1E3A5F">
              <a:alpha val="2392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40080" y="2011680"/>
            <a:ext cx="35438" cy="35438"/>
          </a:xfrm>
          <a:prstGeom prst="ellipse">
            <a:avLst/>
          </a:prstGeom>
          <a:solidFill>
            <a:srgbClr val="1E3A5F">
              <a:alpha val="2117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1737360" y="2743200"/>
            <a:ext cx="24589" cy="24589"/>
          </a:xfrm>
          <a:prstGeom prst="ellipse">
            <a:avLst/>
          </a:prstGeom>
          <a:solidFill>
            <a:srgbClr val="1E3A5F">
              <a:alpha val="4901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2834640" y="1645920"/>
            <a:ext cx="40234" cy="40234"/>
          </a:xfrm>
          <a:prstGeom prst="ellipse">
            <a:avLst/>
          </a:prstGeom>
          <a:solidFill>
            <a:srgbClr val="1E3A5F">
              <a:alpha val="27843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023360" y="2377440"/>
            <a:ext cx="27122" cy="27122"/>
          </a:xfrm>
          <a:prstGeom prst="ellipse">
            <a:avLst/>
          </a:prstGeom>
          <a:solidFill>
            <a:srgbClr val="1E3A5F">
              <a:alpha val="3607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5212080" y="1371600"/>
            <a:ext cx="33337" cy="33337"/>
          </a:xfrm>
          <a:prstGeom prst="ellipse">
            <a:avLst/>
          </a:prstGeom>
          <a:solidFill>
            <a:srgbClr val="1E3A5F">
              <a:alpha val="5215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6309360" y="2560320"/>
            <a:ext cx="32909" cy="32909"/>
          </a:xfrm>
          <a:prstGeom prst="ellipse">
            <a:avLst/>
          </a:prstGeom>
          <a:solidFill>
            <a:srgbClr val="1E3A5F">
              <a:alpha val="4705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498080" y="1737360"/>
            <a:ext cx="40089" cy="40089"/>
          </a:xfrm>
          <a:prstGeom prst="ellipse">
            <a:avLst/>
          </a:prstGeom>
          <a:solidFill>
            <a:srgbClr val="1E3A5F">
              <a:alpha val="3098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8503920" y="2286000"/>
            <a:ext cx="40854" cy="40854"/>
          </a:xfrm>
          <a:prstGeom prst="ellipse">
            <a:avLst/>
          </a:prstGeom>
          <a:solidFill>
            <a:srgbClr val="1E3A5F">
              <a:alpha val="2117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65760" y="3749040"/>
            <a:ext cx="29865" cy="29865"/>
          </a:xfrm>
          <a:prstGeom prst="ellipse">
            <a:avLst/>
          </a:prstGeom>
          <a:solidFill>
            <a:srgbClr val="1E3A5F">
              <a:alpha val="4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1463040" y="3383280"/>
            <a:ext cx="31497" cy="31497"/>
          </a:xfrm>
          <a:prstGeom prst="ellipse">
            <a:avLst/>
          </a:prstGeom>
          <a:solidFill>
            <a:srgbClr val="1E3A5F">
              <a:alpha val="4196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560320" y="4389120"/>
            <a:ext cx="35575" cy="35575"/>
          </a:xfrm>
          <a:prstGeom prst="ellipse">
            <a:avLst/>
          </a:prstGeom>
          <a:solidFill>
            <a:srgbClr val="1E3A5F">
              <a:alpha val="23137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657600" y="3840480"/>
            <a:ext cx="36912" cy="36912"/>
          </a:xfrm>
          <a:prstGeom prst="ellipse">
            <a:avLst/>
          </a:prstGeom>
          <a:solidFill>
            <a:srgbClr val="1E3A5F">
              <a:alpha val="2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846320" y="3200400"/>
            <a:ext cx="33870" cy="33870"/>
          </a:xfrm>
          <a:prstGeom prst="ellipse">
            <a:avLst/>
          </a:prstGeom>
          <a:solidFill>
            <a:srgbClr val="1E3A5F">
              <a:alpha val="2705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035040" y="4297680"/>
            <a:ext cx="31865" cy="31865"/>
          </a:xfrm>
          <a:prstGeom prst="ellipse">
            <a:avLst/>
          </a:prstGeom>
          <a:solidFill>
            <a:srgbClr val="1E3A5F">
              <a:alpha val="38823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132320" y="3657600"/>
            <a:ext cx="40151" cy="40151"/>
          </a:xfrm>
          <a:prstGeom prst="ellipse">
            <a:avLst/>
          </a:prstGeom>
          <a:solidFill>
            <a:srgbClr val="1E3A5F">
              <a:alpha val="36862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8229600" y="4114800"/>
            <a:ext cx="32629" cy="32629"/>
          </a:xfrm>
          <a:prstGeom prst="ellipse">
            <a:avLst/>
          </a:prstGeom>
          <a:solidFill>
            <a:srgbClr val="1E3A5F">
              <a:alpha val="3215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8778240" y="2926080"/>
            <a:ext cx="28958" cy="28958"/>
          </a:xfrm>
          <a:prstGeom prst="ellipse">
            <a:avLst/>
          </a:prstGeom>
          <a:solidFill>
            <a:srgbClr val="1E3A5F">
              <a:alpha val="43137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914400" y="4754880"/>
            <a:ext cx="28233" cy="28233"/>
          </a:xfrm>
          <a:prstGeom prst="ellipse">
            <a:avLst/>
          </a:prstGeom>
          <a:solidFill>
            <a:srgbClr val="1E3A5F">
              <a:alpha val="27843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103120" y="5029200"/>
            <a:ext cx="23808" cy="23808"/>
          </a:xfrm>
          <a:prstGeom prst="ellipse">
            <a:avLst/>
          </a:prstGeom>
          <a:solidFill>
            <a:srgbClr val="1E3A5F">
              <a:alpha val="38823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291840" y="4572000"/>
            <a:ext cx="25050" cy="25050"/>
          </a:xfrm>
          <a:prstGeom prst="ellipse">
            <a:avLst/>
          </a:prstGeom>
          <a:solidFill>
            <a:srgbClr val="1E3A5F">
              <a:alpha val="5803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480560" y="4937760"/>
            <a:ext cx="23471" cy="23471"/>
          </a:xfrm>
          <a:prstGeom prst="ellipse">
            <a:avLst/>
          </a:prstGeom>
          <a:solidFill>
            <a:srgbClr val="1E3A5F">
              <a:alpha val="3019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669280" y="4663440"/>
            <a:ext cx="23238" cy="23238"/>
          </a:xfrm>
          <a:prstGeom prst="ellipse">
            <a:avLst/>
          </a:prstGeom>
          <a:solidFill>
            <a:srgbClr val="1E3A5F">
              <a:alpha val="47843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858000" y="5029200"/>
            <a:ext cx="34281" cy="34281"/>
          </a:xfrm>
          <a:prstGeom prst="ellipse">
            <a:avLst/>
          </a:prstGeom>
          <a:solidFill>
            <a:srgbClr val="1E3A5F">
              <a:alpha val="3019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8046720" y="4754880"/>
            <a:ext cx="32313" cy="32313"/>
          </a:xfrm>
          <a:prstGeom prst="ellipse">
            <a:avLst/>
          </a:prstGeom>
          <a:solidFill>
            <a:srgbClr val="1E3A5F">
              <a:alpha val="3215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4"/>
          <p:cNvCxnSpPr/>
          <p:nvPr/>
        </p:nvCxnSpPr>
        <p:spPr>
          <a:xfrm>
            <a:off x="274320" y="365760"/>
            <a:ext cx="822960" cy="64008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4"/>
          <p:cNvCxnSpPr/>
          <p:nvPr/>
        </p:nvCxnSpPr>
        <p:spPr>
          <a:xfrm flipH="1" rot="10800000">
            <a:off x="1097280" y="182880"/>
            <a:ext cx="1188720" cy="82296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4"/>
          <p:cNvCxnSpPr/>
          <p:nvPr/>
        </p:nvCxnSpPr>
        <p:spPr>
          <a:xfrm flipH="1" rot="10800000">
            <a:off x="3474720" y="274320"/>
            <a:ext cx="1188720" cy="45720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4"/>
          <p:cNvCxnSpPr/>
          <p:nvPr/>
        </p:nvCxnSpPr>
        <p:spPr>
          <a:xfrm flipH="1" rot="10800000">
            <a:off x="5852160" y="457200"/>
            <a:ext cx="1097280" cy="45720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4"/>
          <p:cNvCxnSpPr/>
          <p:nvPr/>
        </p:nvCxnSpPr>
        <p:spPr>
          <a:xfrm>
            <a:off x="640080" y="2011680"/>
            <a:ext cx="1097280" cy="73152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4"/>
          <p:cNvCxnSpPr/>
          <p:nvPr/>
        </p:nvCxnSpPr>
        <p:spPr>
          <a:xfrm flipH="1" rot="10800000">
            <a:off x="4023360" y="1371600"/>
            <a:ext cx="1188720" cy="10058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7498080" y="1737360"/>
            <a:ext cx="1005840" cy="5486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4"/>
          <p:cNvCxnSpPr/>
          <p:nvPr/>
        </p:nvCxnSpPr>
        <p:spPr>
          <a:xfrm>
            <a:off x="1463040" y="3383280"/>
            <a:ext cx="1097280" cy="10058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4"/>
          <p:cNvCxnSpPr/>
          <p:nvPr/>
        </p:nvCxnSpPr>
        <p:spPr>
          <a:xfrm>
            <a:off x="4846320" y="3200400"/>
            <a:ext cx="1188720" cy="109728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4"/>
          <p:cNvSpPr/>
          <p:nvPr/>
        </p:nvSpPr>
        <p:spPr>
          <a:xfrm>
            <a:off x="274320" y="164592"/>
            <a:ext cx="64008" cy="658368"/>
          </a:xfrm>
          <a:prstGeom prst="rect">
            <a:avLst/>
          </a:prstGeom>
          <a:solidFill>
            <a:srgbClr val="17C3E3"/>
          </a:solidFill>
          <a:ln cap="flat" cmpd="sng" w="12700">
            <a:solidFill>
              <a:srgbClr val="17C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75488" y="16459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 AND MOTIVATION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74320" y="960120"/>
            <a:ext cx="3977640" cy="1737360"/>
          </a:xfrm>
          <a:prstGeom prst="roundRect">
            <a:avLst>
              <a:gd fmla="val 5263" name="adj"/>
            </a:avLst>
          </a:prstGeom>
          <a:solidFill>
            <a:srgbClr val="0D1535"/>
          </a:solidFill>
          <a:ln cap="flat" cmpd="sng" w="254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38912" y="1051560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Clinical Reality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703320" y="1024128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38912" y="1426464"/>
            <a:ext cx="36576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1 in 5 adults</a:t>
            </a:r>
            <a:r>
              <a:rPr b="0" i="0" lang="en-US" sz="12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 struggle with mental health.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50"/>
              <a:buFont typeface="Calibri"/>
              <a:buNone/>
            </a:pPr>
            <a:r>
              <a:rPr b="0" i="0" lang="en-US" sz="12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However, the gap between needing professional help and actually receiving it remains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huge and critical</a:t>
            </a:r>
            <a:r>
              <a:rPr b="0" i="0" lang="en-US" sz="12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462272" y="960120"/>
            <a:ext cx="4425696" cy="1737360"/>
          </a:xfrm>
          <a:prstGeom prst="roundRect">
            <a:avLst>
              <a:gd fmla="val 5263" name="adj"/>
            </a:avLst>
          </a:prstGeom>
          <a:solidFill>
            <a:srgbClr val="0E1840"/>
          </a:solidFill>
          <a:ln cap="flat" cmpd="sng" w="12700">
            <a:solidFill>
              <a:srgbClr val="1E3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617720" y="1051560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Digital Lifeline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339328" y="1024128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617720" y="1426464"/>
            <a:ext cx="411480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50"/>
              <a:buFont typeface="Calibri"/>
              <a:buNone/>
            </a:pPr>
            <a:r>
              <a:rPr b="0" i="0" lang="en-US" sz="12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In the absence of immediate clinical support, </a:t>
            </a:r>
            <a:r>
              <a:rPr b="1" i="0" lang="en-US" sz="125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Reddit communities</a:t>
            </a:r>
            <a:r>
              <a:rPr b="0" i="0" lang="en-US" sz="12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 have become a primary lifeline.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50"/>
              <a:buFont typeface="Calibri"/>
              <a:buNone/>
            </a:pPr>
            <a:r>
              <a:rPr b="0" i="0" lang="en-US" sz="12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Millions of users turn to anonymous forums to seek support, share trauma, and vent distress.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74320" y="2852928"/>
            <a:ext cx="8613648" cy="1938528"/>
          </a:xfrm>
          <a:prstGeom prst="roundRect">
            <a:avLst>
              <a:gd fmla="val 5660" name="adj"/>
            </a:avLst>
          </a:prstGeom>
          <a:solidFill>
            <a:srgbClr val="0A1230"/>
          </a:solidFill>
          <a:ln cap="flat" cmpd="sng" w="19050">
            <a:solidFill>
              <a:srgbClr val="17C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74320" y="3045043"/>
            <a:ext cx="8613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Core Opportunity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02920" y="3474720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8092440" y="3474720"/>
            <a:ext cx="548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1143000" y="3573943"/>
            <a:ext cx="68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350"/>
              <a:buFont typeface="Calibri"/>
              <a:buNone/>
            </a:pPr>
            <a:r>
              <a:rPr b="0" i="0" lang="en-US" sz="16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What patterns define how distress is expressed online?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1143000" y="4005243"/>
            <a:ext cx="6858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1600"/>
              <a:buFont typeface="Calibri"/>
              <a:buNone/>
            </a:pPr>
            <a:r>
              <a:rPr b="1" i="0" lang="en-US" sz="210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And can we reliably surface them with data?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2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274320" y="365760"/>
            <a:ext cx="40635" cy="40635"/>
          </a:xfrm>
          <a:prstGeom prst="ellipse">
            <a:avLst/>
          </a:prstGeom>
          <a:solidFill>
            <a:srgbClr val="1E3A5F">
              <a:alpha val="5490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1097280" y="1005840"/>
            <a:ext cx="40381" cy="40381"/>
          </a:xfrm>
          <a:prstGeom prst="ellipse">
            <a:avLst/>
          </a:prstGeom>
          <a:solidFill>
            <a:srgbClr val="1E3A5F">
              <a:alpha val="43137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2286000" y="182880"/>
            <a:ext cx="30838" cy="30838"/>
          </a:xfrm>
          <a:prstGeom prst="ellipse">
            <a:avLst/>
          </a:prstGeom>
          <a:solidFill>
            <a:srgbClr val="1E3A5F">
              <a:alpha val="3215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474720" y="731520"/>
            <a:ext cx="32478" cy="32478"/>
          </a:xfrm>
          <a:prstGeom prst="ellipse">
            <a:avLst/>
          </a:prstGeom>
          <a:solidFill>
            <a:srgbClr val="1E3A5F">
              <a:alpha val="3490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663440" y="274320"/>
            <a:ext cx="38651" cy="38651"/>
          </a:xfrm>
          <a:prstGeom prst="ellipse">
            <a:avLst/>
          </a:prstGeom>
          <a:solidFill>
            <a:srgbClr val="1E3A5F">
              <a:alpha val="4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852160" y="914400"/>
            <a:ext cx="32422" cy="32422"/>
          </a:xfrm>
          <a:prstGeom prst="ellipse">
            <a:avLst/>
          </a:prstGeom>
          <a:solidFill>
            <a:srgbClr val="1E3A5F">
              <a:alpha val="3019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949440" y="457200"/>
            <a:ext cx="30201" cy="30201"/>
          </a:xfrm>
          <a:prstGeom prst="ellipse">
            <a:avLst/>
          </a:prstGeom>
          <a:solidFill>
            <a:srgbClr val="1E3A5F">
              <a:alpha val="3490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8138160" y="822960"/>
            <a:ext cx="28341" cy="28341"/>
          </a:xfrm>
          <a:prstGeom prst="ellipse">
            <a:avLst/>
          </a:prstGeom>
          <a:solidFill>
            <a:srgbClr val="1E3A5F">
              <a:alpha val="58823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8686800" y="182880"/>
            <a:ext cx="29651" cy="29651"/>
          </a:xfrm>
          <a:prstGeom prst="ellipse">
            <a:avLst/>
          </a:prstGeom>
          <a:solidFill>
            <a:srgbClr val="1E3A5F">
              <a:alpha val="27843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640080" y="2011680"/>
            <a:ext cx="40617" cy="40617"/>
          </a:xfrm>
          <a:prstGeom prst="ellipse">
            <a:avLst/>
          </a:prstGeom>
          <a:solidFill>
            <a:srgbClr val="1E3A5F">
              <a:alpha val="4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1737360" y="2743200"/>
            <a:ext cx="27603" cy="27603"/>
          </a:xfrm>
          <a:prstGeom prst="ellipse">
            <a:avLst/>
          </a:prstGeom>
          <a:solidFill>
            <a:srgbClr val="1E3A5F">
              <a:alpha val="5019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834640" y="1645920"/>
            <a:ext cx="37155" cy="37155"/>
          </a:xfrm>
          <a:prstGeom prst="ellipse">
            <a:avLst/>
          </a:prstGeom>
          <a:solidFill>
            <a:srgbClr val="1E3A5F">
              <a:alpha val="2196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023360" y="2377440"/>
            <a:ext cx="28861" cy="28861"/>
          </a:xfrm>
          <a:prstGeom prst="ellipse">
            <a:avLst/>
          </a:prstGeom>
          <a:solidFill>
            <a:srgbClr val="1E3A5F">
              <a:alpha val="2705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212080" y="1371600"/>
            <a:ext cx="23586" cy="23586"/>
          </a:xfrm>
          <a:prstGeom prst="ellipse">
            <a:avLst/>
          </a:prstGeom>
          <a:solidFill>
            <a:srgbClr val="1E3A5F">
              <a:alpha val="3215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6309360" y="2560320"/>
            <a:ext cx="38982" cy="38982"/>
          </a:xfrm>
          <a:prstGeom prst="ellipse">
            <a:avLst/>
          </a:prstGeom>
          <a:solidFill>
            <a:srgbClr val="1E3A5F">
              <a:alpha val="3607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7498080" y="1737360"/>
            <a:ext cx="29829" cy="29829"/>
          </a:xfrm>
          <a:prstGeom prst="ellipse">
            <a:avLst/>
          </a:prstGeom>
          <a:solidFill>
            <a:srgbClr val="1E3A5F">
              <a:alpha val="2705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8503920" y="2286000"/>
            <a:ext cx="28911" cy="28911"/>
          </a:xfrm>
          <a:prstGeom prst="ellipse">
            <a:avLst/>
          </a:prstGeom>
          <a:solidFill>
            <a:srgbClr val="1E3A5F">
              <a:alpha val="4705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365760" y="3749040"/>
            <a:ext cx="25314" cy="25314"/>
          </a:xfrm>
          <a:prstGeom prst="ellipse">
            <a:avLst/>
          </a:prstGeom>
          <a:solidFill>
            <a:srgbClr val="1E3A5F">
              <a:alpha val="34117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1463040" y="3383280"/>
            <a:ext cx="29501" cy="29501"/>
          </a:xfrm>
          <a:prstGeom prst="ellipse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2560320" y="4389120"/>
            <a:ext cx="33799" cy="33799"/>
          </a:xfrm>
          <a:prstGeom prst="ellipse">
            <a:avLst/>
          </a:prstGeom>
          <a:solidFill>
            <a:srgbClr val="1E3A5F">
              <a:alpha val="2901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3657600" y="3840480"/>
            <a:ext cx="28818" cy="28818"/>
          </a:xfrm>
          <a:prstGeom prst="ellipse">
            <a:avLst/>
          </a:prstGeom>
          <a:solidFill>
            <a:srgbClr val="1E3A5F">
              <a:alpha val="2705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846320" y="3200400"/>
            <a:ext cx="32505" cy="32505"/>
          </a:xfrm>
          <a:prstGeom prst="ellipse">
            <a:avLst/>
          </a:prstGeom>
          <a:solidFill>
            <a:srgbClr val="1E3A5F">
              <a:alpha val="3294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6035040" y="4297680"/>
            <a:ext cx="30478" cy="30478"/>
          </a:xfrm>
          <a:prstGeom prst="ellipse">
            <a:avLst/>
          </a:prstGeom>
          <a:solidFill>
            <a:srgbClr val="1E3A5F">
              <a:alpha val="4117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7132320" y="3657600"/>
            <a:ext cx="38474" cy="38474"/>
          </a:xfrm>
          <a:prstGeom prst="ellipse">
            <a:avLst/>
          </a:prstGeom>
          <a:solidFill>
            <a:srgbClr val="1E3A5F">
              <a:alpha val="2196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8229600" y="4114800"/>
            <a:ext cx="30733" cy="30733"/>
          </a:xfrm>
          <a:prstGeom prst="ellipse">
            <a:avLst/>
          </a:prstGeom>
          <a:solidFill>
            <a:srgbClr val="1E3A5F">
              <a:alpha val="3098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8778240" y="2926080"/>
            <a:ext cx="24216" cy="24216"/>
          </a:xfrm>
          <a:prstGeom prst="ellipse">
            <a:avLst/>
          </a:prstGeom>
          <a:solidFill>
            <a:srgbClr val="1E3A5F">
              <a:alpha val="5607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914400" y="4754880"/>
            <a:ext cx="37710" cy="37710"/>
          </a:xfrm>
          <a:prstGeom prst="ellipse">
            <a:avLst/>
          </a:prstGeom>
          <a:solidFill>
            <a:srgbClr val="1E3A5F">
              <a:alpha val="5294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2103120" y="5029200"/>
            <a:ext cx="36181" cy="36181"/>
          </a:xfrm>
          <a:prstGeom prst="ellipse">
            <a:avLst/>
          </a:prstGeom>
          <a:solidFill>
            <a:srgbClr val="1E3A5F">
              <a:alpha val="2117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3291840" y="4572000"/>
            <a:ext cx="33579" cy="33579"/>
          </a:xfrm>
          <a:prstGeom prst="ellipse">
            <a:avLst/>
          </a:prstGeom>
          <a:solidFill>
            <a:srgbClr val="1E3A5F">
              <a:alpha val="2392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480560" y="4937760"/>
            <a:ext cx="27672" cy="27672"/>
          </a:xfrm>
          <a:prstGeom prst="ellipse">
            <a:avLst/>
          </a:prstGeom>
          <a:solidFill>
            <a:srgbClr val="1E3A5F">
              <a:alpha val="4392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5669280" y="4663440"/>
            <a:ext cx="38357" cy="38357"/>
          </a:xfrm>
          <a:prstGeom prst="ellipse">
            <a:avLst/>
          </a:prstGeom>
          <a:solidFill>
            <a:srgbClr val="1E3A5F">
              <a:alpha val="5803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6858000" y="5029200"/>
            <a:ext cx="32501" cy="32501"/>
          </a:xfrm>
          <a:prstGeom prst="ellipse">
            <a:avLst/>
          </a:prstGeom>
          <a:solidFill>
            <a:srgbClr val="1E3A5F">
              <a:alpha val="4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8046720" y="4754880"/>
            <a:ext cx="28897" cy="28897"/>
          </a:xfrm>
          <a:prstGeom prst="ellipse">
            <a:avLst/>
          </a:prstGeom>
          <a:solidFill>
            <a:srgbClr val="1E3A5F">
              <a:alpha val="2117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5"/>
          <p:cNvCxnSpPr/>
          <p:nvPr/>
        </p:nvCxnSpPr>
        <p:spPr>
          <a:xfrm>
            <a:off x="274320" y="365760"/>
            <a:ext cx="822960" cy="64008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5"/>
          <p:cNvCxnSpPr/>
          <p:nvPr/>
        </p:nvCxnSpPr>
        <p:spPr>
          <a:xfrm flipH="1" rot="10800000">
            <a:off x="1097280" y="182880"/>
            <a:ext cx="1188720" cy="82296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5"/>
          <p:cNvCxnSpPr/>
          <p:nvPr/>
        </p:nvCxnSpPr>
        <p:spPr>
          <a:xfrm flipH="1" rot="10800000">
            <a:off x="3474720" y="274320"/>
            <a:ext cx="1188720" cy="45720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5"/>
          <p:cNvCxnSpPr/>
          <p:nvPr/>
        </p:nvCxnSpPr>
        <p:spPr>
          <a:xfrm flipH="1" rot="10800000">
            <a:off x="5852160" y="457200"/>
            <a:ext cx="1097280" cy="45720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5"/>
          <p:cNvCxnSpPr/>
          <p:nvPr/>
        </p:nvCxnSpPr>
        <p:spPr>
          <a:xfrm>
            <a:off x="640080" y="2011680"/>
            <a:ext cx="1097280" cy="73152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5"/>
          <p:cNvCxnSpPr/>
          <p:nvPr/>
        </p:nvCxnSpPr>
        <p:spPr>
          <a:xfrm flipH="1" rot="10800000">
            <a:off x="4023360" y="1371600"/>
            <a:ext cx="1188720" cy="10058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5"/>
          <p:cNvCxnSpPr/>
          <p:nvPr/>
        </p:nvCxnSpPr>
        <p:spPr>
          <a:xfrm>
            <a:off x="7498080" y="1737360"/>
            <a:ext cx="1005840" cy="5486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5"/>
          <p:cNvCxnSpPr/>
          <p:nvPr/>
        </p:nvCxnSpPr>
        <p:spPr>
          <a:xfrm>
            <a:off x="1463040" y="3383280"/>
            <a:ext cx="1097280" cy="10058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5"/>
          <p:cNvCxnSpPr/>
          <p:nvPr/>
        </p:nvCxnSpPr>
        <p:spPr>
          <a:xfrm>
            <a:off x="4846320" y="3200400"/>
            <a:ext cx="1188720" cy="109728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5"/>
          <p:cNvSpPr/>
          <p:nvPr/>
        </p:nvSpPr>
        <p:spPr>
          <a:xfrm>
            <a:off x="274320" y="164592"/>
            <a:ext cx="64008" cy="658368"/>
          </a:xfrm>
          <a:prstGeom prst="rect">
            <a:avLst/>
          </a:prstGeom>
          <a:solidFill>
            <a:srgbClr val="17C3E3"/>
          </a:solidFill>
          <a:ln cap="flat" cmpd="sng" w="12700">
            <a:solidFill>
              <a:srgbClr val="17C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475488" y="16459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BIG IDEA AND METHODOLOGY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274320" y="960120"/>
            <a:ext cx="3886200" cy="3931920"/>
          </a:xfrm>
          <a:prstGeom prst="roundRect">
            <a:avLst>
              <a:gd fmla="val 2353" name="adj"/>
            </a:avLst>
          </a:prstGeom>
          <a:solidFill>
            <a:srgbClr val="0E1535"/>
          </a:solidFill>
          <a:ln cap="flat" cmpd="sng" w="12700">
            <a:solidFill>
              <a:srgbClr val="1E3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438912" y="104241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</a:t>
            </a: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Dataset at a Glance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38912" y="155448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38912" y="1810512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Kaggle Reddit Mental Health Corpus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38912" y="23042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Subreddits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438912" y="2560320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5 MH subreddits + 5 control subreddits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38912" y="305409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1150"/>
              <a:buFont typeface="Calibri"/>
              <a:buNone/>
            </a:pPr>
            <a:r>
              <a:rPr b="1" i="0" lang="en-US" sz="125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Volume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38912" y="3310128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4,000 real posts → augmented 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12,000+ total analyzed posts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38912" y="398678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438912" y="4242816"/>
            <a:ext cx="3566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Text, timestamps, engagement metadata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434840" y="960120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1500"/>
              <a:buFont typeface="Calibri"/>
              <a:buNone/>
            </a:pPr>
            <a:r>
              <a:rPr b="1" i="0" lang="en-US" sz="190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3 Pattern Mining Approaches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434840" y="1444752"/>
            <a:ext cx="4462272" cy="1060704"/>
          </a:xfrm>
          <a:prstGeom prst="roundRect">
            <a:avLst>
              <a:gd fmla="val 8621" name="adj"/>
            </a:avLst>
          </a:prstGeom>
          <a:solidFill>
            <a:srgbClr val="0D1840"/>
          </a:solidFill>
          <a:ln cap="flat" cmpd="sng" w="12700">
            <a:solidFill>
              <a:srgbClr val="1E3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4599432" y="1536192"/>
            <a:ext cx="413308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RQ1 — FP-Growth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599432" y="1856232"/>
            <a:ext cx="4133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Treat posts as transactions. Mine word co-occurrence rules. Evaluated by support, confidence &amp; lift.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434840" y="2615184"/>
            <a:ext cx="4462272" cy="1060704"/>
          </a:xfrm>
          <a:prstGeom prst="roundRect">
            <a:avLst>
              <a:gd fmla="val 8621" name="adj"/>
            </a:avLst>
          </a:prstGeom>
          <a:solidFill>
            <a:srgbClr val="0D1840"/>
          </a:solidFill>
          <a:ln cap="flat" cmpd="sng" w="12700">
            <a:solidFill>
              <a:srgbClr val="1E3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4599432" y="2706624"/>
            <a:ext cx="413308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RQ2 — Conditioned Mining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599432" y="3026664"/>
            <a:ext cx="4133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Split corpus into MH vs control &amp; day vs night. Compare rule sets across behavioural segments.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434840" y="3785616"/>
            <a:ext cx="4462272" cy="1060704"/>
          </a:xfrm>
          <a:prstGeom prst="roundRect">
            <a:avLst>
              <a:gd fmla="val 8621" name="adj"/>
            </a:avLst>
          </a:prstGeom>
          <a:solidFill>
            <a:srgbClr val="0D1840"/>
          </a:solidFill>
          <a:ln cap="flat" cmpd="sng" w="12700">
            <a:solidFill>
              <a:srgbClr val="1E3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4599432" y="3877056"/>
            <a:ext cx="413308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RQ3 — PrefixSpan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4599432" y="4197096"/>
            <a:ext cx="4133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Order posts chronologically per user. Find sequential patterns across post histories over time.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D24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/>
          <p:nvPr/>
        </p:nvSpPr>
        <p:spPr>
          <a:xfrm>
            <a:off x="274320" y="365760"/>
            <a:ext cx="26058" cy="26058"/>
          </a:xfrm>
          <a:prstGeom prst="ellipse">
            <a:avLst/>
          </a:prstGeom>
          <a:solidFill>
            <a:srgbClr val="1E3A5F">
              <a:alpha val="4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1097280" y="1005840"/>
            <a:ext cx="35473" cy="35473"/>
          </a:xfrm>
          <a:prstGeom prst="ellipse">
            <a:avLst/>
          </a:prstGeom>
          <a:solidFill>
            <a:srgbClr val="1E3A5F">
              <a:alpha val="3803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2286000" y="182880"/>
            <a:ext cx="27241" cy="27241"/>
          </a:xfrm>
          <a:prstGeom prst="ellipse">
            <a:avLst/>
          </a:prstGeom>
          <a:solidFill>
            <a:srgbClr val="1E3A5F">
              <a:alpha val="4901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3474720" y="731520"/>
            <a:ext cx="30956" cy="30956"/>
          </a:xfrm>
          <a:prstGeom prst="ellipse">
            <a:avLst/>
          </a:prstGeom>
          <a:solidFill>
            <a:srgbClr val="1E3A5F">
              <a:alpha val="5019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663440" y="274320"/>
            <a:ext cx="26660" cy="26660"/>
          </a:xfrm>
          <a:prstGeom prst="ellipse">
            <a:avLst/>
          </a:prstGeom>
          <a:solidFill>
            <a:srgbClr val="1E3A5F">
              <a:alpha val="36862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5852160" y="914400"/>
            <a:ext cx="37500" cy="37500"/>
          </a:xfrm>
          <a:prstGeom prst="ellipse">
            <a:avLst/>
          </a:prstGeom>
          <a:solidFill>
            <a:srgbClr val="1E3A5F">
              <a:alpha val="43137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6949440" y="457200"/>
            <a:ext cx="33887" cy="33887"/>
          </a:xfrm>
          <a:prstGeom prst="ellipse">
            <a:avLst/>
          </a:prstGeom>
          <a:solidFill>
            <a:srgbClr val="1E3A5F">
              <a:alpha val="4705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8138160" y="822960"/>
            <a:ext cx="38094" cy="38094"/>
          </a:xfrm>
          <a:prstGeom prst="ellipse">
            <a:avLst/>
          </a:prstGeom>
          <a:solidFill>
            <a:srgbClr val="1E3A5F">
              <a:alpha val="5294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8686800" y="182880"/>
            <a:ext cx="24446" cy="24446"/>
          </a:xfrm>
          <a:prstGeom prst="ellipse">
            <a:avLst/>
          </a:prstGeom>
          <a:solidFill>
            <a:srgbClr val="1E3A5F">
              <a:alpha val="3607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640080" y="2011680"/>
            <a:ext cx="39600" cy="39600"/>
          </a:xfrm>
          <a:prstGeom prst="ellipse">
            <a:avLst/>
          </a:prstGeom>
          <a:solidFill>
            <a:srgbClr val="1E3A5F">
              <a:alpha val="4196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1737360" y="2743200"/>
            <a:ext cx="25149" cy="25149"/>
          </a:xfrm>
          <a:prstGeom prst="ellipse">
            <a:avLst/>
          </a:prstGeom>
          <a:solidFill>
            <a:srgbClr val="1E3A5F">
              <a:alpha val="5803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2834640" y="1645920"/>
            <a:ext cx="31618" cy="31618"/>
          </a:xfrm>
          <a:prstGeom prst="ellipse">
            <a:avLst/>
          </a:prstGeom>
          <a:solidFill>
            <a:srgbClr val="1E3A5F">
              <a:alpha val="4901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023360" y="2377440"/>
            <a:ext cx="29117" cy="29117"/>
          </a:xfrm>
          <a:prstGeom prst="ellipse">
            <a:avLst/>
          </a:prstGeom>
          <a:solidFill>
            <a:srgbClr val="1E3A5F">
              <a:alpha val="5803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5212080" y="1371600"/>
            <a:ext cx="40302" cy="40302"/>
          </a:xfrm>
          <a:prstGeom prst="ellipse">
            <a:avLst/>
          </a:prstGeom>
          <a:solidFill>
            <a:srgbClr val="1E3A5F">
              <a:alpha val="5098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309360" y="2560320"/>
            <a:ext cx="28371" cy="28371"/>
          </a:xfrm>
          <a:prstGeom prst="ellipse">
            <a:avLst/>
          </a:prstGeom>
          <a:solidFill>
            <a:srgbClr val="1E3A5F">
              <a:alpha val="3490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7498080" y="1737360"/>
            <a:ext cx="25619" cy="25619"/>
          </a:xfrm>
          <a:prstGeom prst="ellipse">
            <a:avLst/>
          </a:prstGeom>
          <a:solidFill>
            <a:srgbClr val="1E3A5F">
              <a:alpha val="3490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8503920" y="2286000"/>
            <a:ext cx="29222" cy="29222"/>
          </a:xfrm>
          <a:prstGeom prst="ellipse">
            <a:avLst/>
          </a:prstGeom>
          <a:solidFill>
            <a:srgbClr val="1E3A5F">
              <a:alpha val="3607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365760" y="3749040"/>
            <a:ext cx="37683" cy="37683"/>
          </a:xfrm>
          <a:prstGeom prst="ellipse">
            <a:avLst/>
          </a:prstGeom>
          <a:solidFill>
            <a:srgbClr val="1E3A5F">
              <a:alpha val="5098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1463040" y="3383280"/>
            <a:ext cx="23542" cy="23542"/>
          </a:xfrm>
          <a:prstGeom prst="ellipse">
            <a:avLst/>
          </a:prstGeom>
          <a:solidFill>
            <a:srgbClr val="1E3A5F">
              <a:alpha val="2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2560320" y="4389120"/>
            <a:ext cx="37837" cy="37837"/>
          </a:xfrm>
          <a:prstGeom prst="ellipse">
            <a:avLst/>
          </a:prstGeom>
          <a:solidFill>
            <a:srgbClr val="1E3A5F">
              <a:alpha val="52941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3657600" y="3840480"/>
            <a:ext cx="41042" cy="41042"/>
          </a:xfrm>
          <a:prstGeom prst="ellipse">
            <a:avLst/>
          </a:prstGeom>
          <a:solidFill>
            <a:srgbClr val="1E3A5F">
              <a:alpha val="3098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4846320" y="3200400"/>
            <a:ext cx="37973" cy="37973"/>
          </a:xfrm>
          <a:prstGeom prst="ellipse">
            <a:avLst/>
          </a:prstGeom>
          <a:solidFill>
            <a:srgbClr val="1E3A5F">
              <a:alpha val="2196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6035040" y="4297680"/>
            <a:ext cx="26038" cy="26038"/>
          </a:xfrm>
          <a:prstGeom prst="ellipse">
            <a:avLst/>
          </a:prstGeom>
          <a:solidFill>
            <a:srgbClr val="1E3A5F">
              <a:alpha val="4901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7132320" y="3657600"/>
            <a:ext cx="32519" cy="32519"/>
          </a:xfrm>
          <a:prstGeom prst="ellipse">
            <a:avLst/>
          </a:prstGeom>
          <a:solidFill>
            <a:srgbClr val="1E3A5F">
              <a:alpha val="23137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8229600" y="4114800"/>
            <a:ext cx="27421" cy="27421"/>
          </a:xfrm>
          <a:prstGeom prst="ellipse">
            <a:avLst/>
          </a:prstGeom>
          <a:solidFill>
            <a:srgbClr val="1E3A5F">
              <a:alpha val="5098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8778240" y="2926080"/>
            <a:ext cx="36846" cy="36846"/>
          </a:xfrm>
          <a:prstGeom prst="ellipse">
            <a:avLst/>
          </a:prstGeom>
          <a:solidFill>
            <a:srgbClr val="1E3A5F">
              <a:alpha val="5215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914400" y="4754880"/>
            <a:ext cx="32131" cy="32131"/>
          </a:xfrm>
          <a:prstGeom prst="ellipse">
            <a:avLst/>
          </a:prstGeom>
          <a:solidFill>
            <a:srgbClr val="1E3A5F">
              <a:alpha val="45882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2103120" y="5029200"/>
            <a:ext cx="23176" cy="23176"/>
          </a:xfrm>
          <a:prstGeom prst="ellipse">
            <a:avLst/>
          </a:prstGeom>
          <a:solidFill>
            <a:srgbClr val="1E3A5F">
              <a:alpha val="38039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3291840" y="4572000"/>
            <a:ext cx="32840" cy="32840"/>
          </a:xfrm>
          <a:prstGeom prst="ellipse">
            <a:avLst/>
          </a:prstGeom>
          <a:solidFill>
            <a:srgbClr val="1E3A5F">
              <a:alpha val="58823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4480560" y="4937760"/>
            <a:ext cx="28665" cy="28665"/>
          </a:xfrm>
          <a:prstGeom prst="ellipse">
            <a:avLst/>
          </a:prstGeom>
          <a:solidFill>
            <a:srgbClr val="1E3A5F">
              <a:alpha val="56862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5669280" y="4663440"/>
            <a:ext cx="26729" cy="26729"/>
          </a:xfrm>
          <a:prstGeom prst="ellipse">
            <a:avLst/>
          </a:prstGeom>
          <a:solidFill>
            <a:srgbClr val="1E3A5F">
              <a:alpha val="4117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858000" y="5029200"/>
            <a:ext cx="30906" cy="30906"/>
          </a:xfrm>
          <a:prstGeom prst="ellipse">
            <a:avLst/>
          </a:prstGeom>
          <a:solidFill>
            <a:srgbClr val="1E3A5F">
              <a:alpha val="45882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8046720" y="4754880"/>
            <a:ext cx="33836" cy="33836"/>
          </a:xfrm>
          <a:prstGeom prst="ellipse">
            <a:avLst/>
          </a:prstGeom>
          <a:solidFill>
            <a:srgbClr val="1E3A5F">
              <a:alpha val="25098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3" name="Google Shape;243;p6"/>
          <p:cNvCxnSpPr/>
          <p:nvPr/>
        </p:nvCxnSpPr>
        <p:spPr>
          <a:xfrm>
            <a:off x="274320" y="365760"/>
            <a:ext cx="822960" cy="64008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6"/>
          <p:cNvCxnSpPr/>
          <p:nvPr/>
        </p:nvCxnSpPr>
        <p:spPr>
          <a:xfrm flipH="1" rot="10800000">
            <a:off x="1097280" y="182880"/>
            <a:ext cx="1188720" cy="82296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6"/>
          <p:cNvCxnSpPr/>
          <p:nvPr/>
        </p:nvCxnSpPr>
        <p:spPr>
          <a:xfrm flipH="1" rot="10800000">
            <a:off x="3474720" y="274320"/>
            <a:ext cx="1188720" cy="45720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6"/>
          <p:cNvCxnSpPr/>
          <p:nvPr/>
        </p:nvCxnSpPr>
        <p:spPr>
          <a:xfrm flipH="1" rot="10800000">
            <a:off x="5852160" y="457200"/>
            <a:ext cx="1097280" cy="45720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6"/>
          <p:cNvCxnSpPr/>
          <p:nvPr/>
        </p:nvCxnSpPr>
        <p:spPr>
          <a:xfrm>
            <a:off x="640080" y="2011680"/>
            <a:ext cx="1097280" cy="73152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6"/>
          <p:cNvCxnSpPr/>
          <p:nvPr/>
        </p:nvCxnSpPr>
        <p:spPr>
          <a:xfrm flipH="1" rot="10800000">
            <a:off x="4023360" y="1371600"/>
            <a:ext cx="1188720" cy="10058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6"/>
          <p:cNvCxnSpPr/>
          <p:nvPr/>
        </p:nvCxnSpPr>
        <p:spPr>
          <a:xfrm>
            <a:off x="7498080" y="1737360"/>
            <a:ext cx="1005840" cy="5486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6"/>
          <p:cNvCxnSpPr/>
          <p:nvPr/>
        </p:nvCxnSpPr>
        <p:spPr>
          <a:xfrm>
            <a:off x="1463040" y="3383280"/>
            <a:ext cx="1097280" cy="100584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6"/>
          <p:cNvCxnSpPr/>
          <p:nvPr/>
        </p:nvCxnSpPr>
        <p:spPr>
          <a:xfrm>
            <a:off x="4846320" y="3200400"/>
            <a:ext cx="1188720" cy="1097280"/>
          </a:xfrm>
          <a:prstGeom prst="straightConnector1">
            <a:avLst/>
          </a:prstGeom>
          <a:noFill/>
          <a:ln cap="flat" cmpd="sng" w="9525">
            <a:solidFill>
              <a:srgbClr val="1E407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6"/>
          <p:cNvSpPr/>
          <p:nvPr/>
        </p:nvSpPr>
        <p:spPr>
          <a:xfrm>
            <a:off x="274320" y="109728"/>
            <a:ext cx="64008" cy="621792"/>
          </a:xfrm>
          <a:prstGeom prst="rect">
            <a:avLst/>
          </a:prstGeom>
          <a:solidFill>
            <a:srgbClr val="17C3E3"/>
          </a:solidFill>
          <a:ln cap="flat" cmpd="sng" w="12700">
            <a:solidFill>
              <a:srgbClr val="17C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475488" y="109728"/>
            <a:ext cx="8412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 FOUND &amp; REAL WORLD IMPACT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274320" y="822960"/>
            <a:ext cx="41879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-US" sz="1300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30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 FOUND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6"/>
          <p:cNvCxnSpPr/>
          <p:nvPr/>
        </p:nvCxnSpPr>
        <p:spPr>
          <a:xfrm>
            <a:off x="274320" y="1124712"/>
            <a:ext cx="4187952" cy="0"/>
          </a:xfrm>
          <a:prstGeom prst="straightConnector1">
            <a:avLst/>
          </a:prstGeom>
          <a:noFill/>
          <a:ln cap="flat" cmpd="sng" w="12700">
            <a:solidFill>
              <a:srgbClr val="1E3A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6"/>
          <p:cNvSpPr/>
          <p:nvPr/>
        </p:nvSpPr>
        <p:spPr>
          <a:xfrm>
            <a:off x="274320" y="1188720"/>
            <a:ext cx="4187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Association Rules by Lift: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274320" y="1463040"/>
            <a:ext cx="41879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panic↔attack (22.5), bill↔pay (8.4), attack→anxiety (4.5), homeless→shelter (3.2)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274345" y="1940251"/>
            <a:ext cx="418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Segmentation &amp; Vocab Divergence: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274320" y="2214559"/>
            <a:ext cx="4188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950"/>
              <a:buFont typeface="Calibri"/>
              <a:buNone/>
            </a:pP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• MH vs Control Jaccard overlap: only 0.304 (≈70% exclusive)</a:t>
            </a:r>
            <a:b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• MH:</a:t>
            </a: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 anxiety, panic, ptsd, scared, hurt</a:t>
            </a:r>
            <a:b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• Control:</a:t>
            </a: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 money, pay, bill, homeless, rent</a:t>
            </a:r>
            <a:b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Only 22% of top-25 items shared between categories.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256020" y="3130683"/>
            <a:ext cx="418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Behavioral &amp; Temporal Signals: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229450" y="3291850"/>
            <a:ext cx="4415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950"/>
              <a:buFont typeface="Calibri"/>
              <a:buNone/>
            </a:pPr>
            <a:r>
              <a:rPr b="1" i="0" lang="en-US" sz="100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• 0.028 </a:t>
            </a: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MH avg sentiment (more negative)  </a:t>
            </a:r>
            <a:r>
              <a:rPr b="1" i="0" lang="en-US" sz="100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• 8 PM </a:t>
            </a: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MH peak hour (control: 5 PM)</a:t>
            </a:r>
            <a:b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• PrefixSpan: </a:t>
            </a:r>
            <a:r>
              <a:rPr b="0" i="0" lang="en-US" sz="100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feel→feel, like→like (vocabulary persistence)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6"/>
          <p:cNvCxnSpPr/>
          <p:nvPr/>
        </p:nvCxnSpPr>
        <p:spPr>
          <a:xfrm>
            <a:off x="4645152" y="804672"/>
            <a:ext cx="0" cy="3218688"/>
          </a:xfrm>
          <a:prstGeom prst="straightConnector1">
            <a:avLst/>
          </a:prstGeom>
          <a:noFill/>
          <a:ln cap="flat" cmpd="sng" w="12700">
            <a:solidFill>
              <a:srgbClr val="1E3A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6"/>
          <p:cNvSpPr/>
          <p:nvPr/>
        </p:nvSpPr>
        <p:spPr>
          <a:xfrm>
            <a:off x="4773168" y="822960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C3E3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7C3E3"/>
                </a:solidFill>
                <a:latin typeface="Calibri"/>
                <a:ea typeface="Calibri"/>
                <a:cs typeface="Calibri"/>
                <a:sym typeface="Calibri"/>
              </a:rPr>
              <a:t>REAL-WORLD IMPACT &amp; TAKEAWAYS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6"/>
          <p:cNvCxnSpPr/>
          <p:nvPr/>
        </p:nvCxnSpPr>
        <p:spPr>
          <a:xfrm>
            <a:off x="4773168" y="1124712"/>
            <a:ext cx="4160520" cy="0"/>
          </a:xfrm>
          <a:prstGeom prst="straightConnector1">
            <a:avLst/>
          </a:prstGeom>
          <a:noFill/>
          <a:ln cap="flat" cmpd="sng" w="12700">
            <a:solidFill>
              <a:srgbClr val="1E3A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6"/>
          <p:cNvSpPr/>
          <p:nvPr/>
        </p:nvSpPr>
        <p:spPr>
          <a:xfrm>
            <a:off x="4773168" y="1234440"/>
            <a:ext cx="4160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🚨  Crisis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4773168" y="1545336"/>
            <a:ext cx="4160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High-lift rules like panic↔attack (22.5) form a measurable fingerprint of distress. These patterns can power real-time platform moderation</a:t>
            </a:r>
            <a:r>
              <a:rPr lang="en-US" sz="950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9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 giving responders earlier, automated signals.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4773168" y="2240280"/>
            <a:ext cx="41605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🏘️  Community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4773168" y="2551176"/>
            <a:ext cx="4160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MH users cross-post heavily into r/homeless and r/assistance. Platform designers can co-locate mental health and economic support resources where they're needed most.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4773168" y="3159382"/>
            <a:ext cx="41604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⏱️  Temporal Insight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4795918" y="3467941"/>
            <a:ext cx="4160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8D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Users return to the same distress vocabulary across posts over time</a:t>
            </a:r>
            <a:r>
              <a:rPr lang="en-US" sz="950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950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 a persistent mental state, not isolated venting. Scalable to longitudinal monitoring at population level.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274320" y="4133088"/>
            <a:ext cx="8613648" cy="749808"/>
          </a:xfrm>
          <a:prstGeom prst="roundRect">
            <a:avLst>
              <a:gd fmla="val 10976" name="adj"/>
            </a:avLst>
          </a:prstGeom>
          <a:solidFill>
            <a:srgbClr val="0A1230"/>
          </a:solidFill>
          <a:ln cap="flat" cmpd="sng" w="19050">
            <a:solidFill>
              <a:srgbClr val="17C3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329200" y="4178800"/>
            <a:ext cx="8558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BIG TAKEAWAY</a:t>
            </a: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0" i="0" lang="en-US" u="none" cap="none" strike="noStrike">
                <a:solidFill>
                  <a:srgbClr val="C8D8F0"/>
                </a:solidFill>
                <a:latin typeface="Calibri"/>
                <a:ea typeface="Calibri"/>
                <a:cs typeface="Calibri"/>
                <a:sym typeface="Calibri"/>
              </a:rPr>
              <a:t>Pattern mining transforms unstructured Reddit text into actionable mental health signals. FP-Growth, conditioned segmentation, and PrefixSpan together reveal structure that no single method could surface alone.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